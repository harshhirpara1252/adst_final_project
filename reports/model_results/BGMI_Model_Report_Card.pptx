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ec60d510594bc3" /><Relationship Type="http://schemas.openxmlformats.org/officeDocument/2006/relationships/extended-properties" Target="/docProps/app.xml" Id="R37ebae35738d4886" /><Relationship Type="http://schemas.openxmlformats.org/officeDocument/2006/relationships/officeDocument" Target="/ppt/presentation.xml" Id="Re0bccfc6478648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cdd5400a1b402e"/>
  </p:sldMasterIdLst>
  <p:notesMasterIdLst>
    <p:notesMasterId xmlns:r="http://schemas.openxmlformats.org/officeDocument/2006/relationships" r:id="R74f82e09bc894bce"/>
  </p:notesMasterIdLst>
  <p:sldIdLst>
    <p:sldId xmlns:r="http://schemas.openxmlformats.org/officeDocument/2006/relationships" id="256" r:id="R4b9dce55d1f8410e"/>
    <p:sldId xmlns:r="http://schemas.openxmlformats.org/officeDocument/2006/relationships" id="257" r:id="Rb449e5965d734fef"/>
    <p:sldId xmlns:r="http://schemas.openxmlformats.org/officeDocument/2006/relationships" id="258" r:id="Reab5a387539d493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65611d34ff4f22" /><Relationship Type="http://schemas.openxmlformats.org/officeDocument/2006/relationships/slideMaster" Target="/ppt/slideMasters/slideMaster1.xml" Id="Rbbcdd5400a1b402e" /><Relationship Type="http://schemas.openxmlformats.org/officeDocument/2006/relationships/notesMaster" Target="/ppt/notesMasters/notesMaster1.xml" Id="R74f82e09bc894bce" /><Relationship Type="http://schemas.openxmlformats.org/officeDocument/2006/relationships/presProps" Target="/ppt/presProps.xml" Id="Rc885d95c0a6d4210" /><Relationship Type="http://schemas.openxmlformats.org/officeDocument/2006/relationships/tableStyles" Target="/ppt/tableStyles.xml" Id="R2920a1cb282e42c3" /><Relationship Type="http://schemas.openxmlformats.org/officeDocument/2006/relationships/slide" Target="/ppt/slides/slide1.xml" Id="R4b9dce55d1f8410e" /><Relationship Type="http://schemas.openxmlformats.org/officeDocument/2006/relationships/slide" Target="/ppt/slides/slide2.xml" Id="Rb449e5965d734fef" /><Relationship Type="http://schemas.openxmlformats.org/officeDocument/2006/relationships/slide" Target="/ppt/slides/slide3.xml" Id="Reab5a387539d49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f8b40b00bb40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4798cad15a419d" /><Relationship Type="http://schemas.openxmlformats.org/officeDocument/2006/relationships/notesMaster" Target="/ppt/notesMasters/notesMaster1.xml" Id="Rbb391be7ea4b4d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0d23c0552d4137" /><Relationship Type="http://schemas.openxmlformats.org/officeDocument/2006/relationships/notesMaster" Target="/ppt/notesMasters/notesMaster1.xml" Id="R4a217cb0472e40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147347d0c74ef3" /><Relationship Type="http://schemas.openxmlformats.org/officeDocument/2006/relationships/notesMaster" Target="/ppt/notesMasters/notesMaster1.xml" Id="Rce5729dc1e6644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D:/BGI_Win_Probability/reports/model_results/model_comparison.csv and model_metadata.json. The Random Forest was selected by the lowest held-out conditional match log loss; calibration used expanding chronological match-group folds. The test contains six later matches (96 team rows), so the result is preliminary. The always-loss accuracy baseline is 90/96 = 93.75%, based on six winning team rows among 96 team rows. Feature importance is descriptive and not causal.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D:/BGI_Win_Probability/reports/model_results/player_finish_model_comparison.csv and player_finish_model_metadata.json. The test covers six chronological matches and 384 player-match rows. Random Forest MAE is 1.091915 and rolling-average MAE is 1.106989, a difference of 0.015073 finishes per player-match. Random Forest RMSE (1.435741) and R-squared (-0.004730) are worse than the rolling-average baseline (1.424499 and 0.010944). The source does not supply match-level MVP-award labels. This model predicts finishes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Jupyter notebook exists at D:/BGI_Win_Probability/notebooks/BGMI_Winning_Probability_Analysis.ipynb and contains the analysis/training workflow. The standalone script src/model_training.py can retrain and save the model outside Flask startup. Recommendations are based on the current six-match team holdout and six-match player holdout; features should only be added when actual tournament sources contain them.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483ad31aaf45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78261ab18f4c2d" /><Relationship Type="http://schemas.openxmlformats.org/officeDocument/2006/relationships/slideLayout" Target="/ppt/slideLayouts/slideLayout1.xml" Id="R8eb06f08cb8340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b06f08cb8340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879e4962654d56" /><Relationship Type="http://schemas.openxmlformats.org/officeDocument/2006/relationships/notesSlide" Target="/ppt/notesSlides/notesSlide1.xml" Id="Rc7cc4152ccdf42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00d95098bd4afc" /><Relationship Type="http://schemas.openxmlformats.org/officeDocument/2006/relationships/notesSlide" Target="/ppt/notesSlides/notesSlide2.xml" Id="R8a2af0c1705e47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2108ea58c6408a" /><Relationship Type="http://schemas.openxmlformats.org/officeDocument/2006/relationships/notesSlide" Target="/ppt/notesSlides/notesSlide3.xml" Id="R87175e26615a4fb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1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FD35F9-2A7F-4236-AE7E-158F7A18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6225"/>
            <a:ext cx="704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F36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9F36A"/>
                </a:solidFill>
                <a:latin typeface="Arial"/>
                <a:ea typeface="Arial"/>
                <a:cs typeface="Arial"/>
              </a:rPr>
              <a:t>MODEL REPORT CARD  ·  BGMI ESPORTS ANALYTICS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13BD3A-0FA1-41AD-A7A5-4CDE22FC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38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DF3F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DF3F5"/>
                </a:solidFill>
                <a:latin typeface="Arial"/>
                <a:ea typeface="Arial"/>
                <a:cs typeface="Arial"/>
              </a:rPr>
              <a:t>Team match win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FBFC25-778D-4BC9-8DA0-FB87B2D0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334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7B7C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7B7C0"/>
                </a:solidFill>
                <a:latin typeface="Arial"/>
                <a:ea typeface="Arial"/>
                <a:cs typeface="Arial"/>
              </a:rPr>
              <a:t>One-match WWCD probability · chronological test · 2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383883-12DE-4957-B930-9345DFCBE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47700"/>
            <a:ext cx="23812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332719"/>
          </a:solidFill>
          <a:ln xmlns:a="http://schemas.openxmlformats.org/drawingml/2006/main" w="9525">
            <a:solidFill>
              <a:srgbClr val="70502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26C390-90BA-4DC2-9E71-3CACCA62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66750"/>
            <a:ext cx="2124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B4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B46B"/>
                </a:solidFill>
                <a:latin typeface="Arial"/>
                <a:ea typeface="Arial"/>
                <a:cs typeface="Arial"/>
              </a:rPr>
              <a:t>PRELIMINARY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B0E85B-897D-445C-92F5-84D66330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B46"/>
          </a:solidFill>
          <a:ln xmlns:a="http://schemas.openxmlformats.org/drawingml/2006/main" w="0">
            <a:solidFill>
              <a:srgbClr val="2A3B4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5778DF-B1EE-4839-AAA8-420C80B4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33718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4202B"/>
          </a:solidFill>
          <a:ln xmlns:a="http://schemas.openxmlformats.org/drawingml/2006/main" w="9525">
            <a:solidFill>
              <a:srgbClr val="2A3B4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271325-E7A6-4DFA-BF42-F79F1F9E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81175"/>
            <a:ext cx="3067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B7C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7B7C0"/>
                </a:solidFill>
                <a:latin typeface="Arial"/>
                <a:ea typeface="Arial"/>
                <a:cs typeface="Arial"/>
              </a:rPr>
              <a:t>HISTORICAL SAMPLE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9867CC-FD7F-462E-B900-D4D5064B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7701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C9F36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C9F36A"/>
                </a:solidFill>
                <a:latin typeface="Arial"/>
                <a:ea typeface="Arial"/>
                <a:cs typeface="Arial"/>
              </a:rPr>
              <a:t>102 matches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CB0041-6055-485F-8C4D-ADEC0D92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3067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7C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7B7C0"/>
                </a:solidFill>
                <a:latin typeface="Arial"/>
                <a:ea typeface="Arial"/>
                <a:cs typeface="Arial"/>
              </a:rPr>
              <a:t>1,632 team-match rows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2307C1-23C7-42A2-B65B-B7BF8498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695450"/>
            <a:ext cx="33718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4202B"/>
          </a:solidFill>
          <a:ln xmlns:a="http://schemas.openxmlformats.org/drawingml/2006/main" w="9525">
            <a:solidFill>
              <a:srgbClr val="2A3B4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8540F7-1F81-4589-8D9C-19201E9A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781175"/>
            <a:ext cx="3067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B7C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7B7C0"/>
                </a:solidFill>
                <a:latin typeface="Arial"/>
                <a:ea typeface="Arial"/>
                <a:cs typeface="Arial"/>
              </a:rPr>
              <a:t>CHRONOLOGICAL HOLDOUT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F6FB1C-7140-4308-805D-5696AA84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952625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7701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C9F36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C9F36A"/>
                </a:solidFill>
                <a:latin typeface="Arial"/>
                <a:ea typeface="Arial"/>
                <a:cs typeface="Arial"/>
              </a:rPr>
              <a:t>6 matches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C81556-C8BF-4214-BC84-944AF831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266950"/>
            <a:ext cx="3067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7C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7B7C0"/>
                </a:solidFill>
                <a:latin typeface="Arial"/>
                <a:ea typeface="Arial"/>
                <a:cs typeface="Arial"/>
              </a:rPr>
              <a:t>later matches · 96 team rows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540829-2BCA-4A0F-84B4-FF020DDA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95450"/>
            <a:ext cx="33718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4202B"/>
          </a:solidFill>
          <a:ln xmlns:a="http://schemas.openxmlformats.org/drawingml/2006/main" w="9525">
            <a:solidFill>
              <a:srgbClr val="2A3B4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85D615-6959-442E-B279-D2FA7C9A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81175"/>
            <a:ext cx="3067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B7C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7B7C0"/>
                </a:solidFill>
                <a:latin typeface="Arial"/>
                <a:ea typeface="Arial"/>
                <a:cs typeface="Arial"/>
              </a:rPr>
              <a:t>WINNER RANKED FIRST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E16810-6DEB-4B07-87C8-09796907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52625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7701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C9F36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C9F36A"/>
                </a:solidFill>
                <a:latin typeface="Arial"/>
                <a:ea typeface="Arial"/>
                <a:cs typeface="Arial"/>
              </a:rPr>
              <a:t>1 of 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A16CF1-250F-4962-B6C7-9B9EC703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66950"/>
            <a:ext cx="3067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7C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7B7C0"/>
                </a:solidFill>
                <a:latin typeface="Arial"/>
                <a:ea typeface="Arial"/>
                <a:cs typeface="Arial"/>
              </a:rPr>
              <a:t>16.7% top-one hit rate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FE8078-CC33-4D22-8B8A-F2E45D83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4D8C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4D8CB"/>
                </a:solidFill>
                <a:latin typeface="Arial"/>
                <a:ea typeface="Arial"/>
                <a:cs typeface="Arial"/>
              </a:rPr>
              <a:t>Random Forest · sigmoid calibrated · target = match winner (WWCD)</a:t>
            </a:r>
          </a:p>
        </p:txBody>
      </p:sp>
      <p:graphicFrame>
        <p:nvGraphicFramePr>
          <p:cNvPr id="46" name=""/>
          <p:cNvGraphicFramePr/>
          <p:nvPr/>
        </p:nvGraphicFramePr>
        <p:xfrm>
          <a:off xmlns:a="http://schemas.openxmlformats.org/drawingml/2006/main" x="704850" y="2857500"/>
          <a:ext xmlns:a="http://schemas.openxmlformats.org/drawingml/2006/main" cx="10782300" cy="2457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1952625"/>
                <a:gridCol w="6400800"/>
              </a:tblGrid>
              <a:tr h="4095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C9F36A"/>
                          </a:solidFill>
                          <a:latin typeface="Arial"/>
                          <a:ea typeface="Arial"/>
                          <a:cs typeface="Arial"/>
                        </a:rPr>
                        <a:t>Measure</a:t>
                      </a:r>
                    </a:p>
                  </a:txBody>
                  <a:tcPr marL="91440" marR="91440" marT="45720" marB="45720" anchor="ctr">
                    <a:solidFill>
                      <a:srgbClr val="20313B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C9F36A"/>
                          </a:solidFill>
                          <a:latin typeface="Arial"/>
                          <a:ea typeface="Arial"/>
                          <a:cs typeface="Arial"/>
                        </a:rPr>
                        <a:t>Held-out result</a:t>
                      </a:r>
                    </a:p>
                  </a:txBody>
                  <a:tcPr marL="91440" marR="91440" marT="45720" marB="45720" anchor="ctr">
                    <a:solidFill>
                      <a:srgbClr val="20313B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C9F36A"/>
                          </a:solidFill>
                          <a:latin typeface="Arial"/>
                          <a:ea typeface="Arial"/>
                          <a:cs typeface="Arial"/>
                        </a:rPr>
                        <a:t>Review</a:t>
                      </a:r>
                    </a:p>
                  </a:txBody>
                  <a:tcPr marL="91440" marR="91440" marT="45720" marB="45720" anchor="ctr">
                    <a:solidFill>
                      <a:srgbClr val="20313B"/>
                    </a:solidFill>
                  </a:tcPr>
                </a:tc>
              </a:tr>
              <a:tr h="4095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D7E3E7"/>
                          </a:solidFill>
                          <a:latin typeface="Arial"/>
                          <a:ea typeface="Arial"/>
                          <a:cs typeface="Arial"/>
                        </a:rPr>
                        <a:t>Binary accuracy</a:t>
                      </a:r>
                    </a:p>
                  </a:txBody>
                  <a:tcPr marL="91440" marR="91440" marT="45720" marB="45720" anchor="ctr">
                    <a:solidFill>
                      <a:srgbClr val="111C25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EDF3F5"/>
                          </a:solidFill>
                          <a:latin typeface="Arial"/>
                          <a:ea typeface="Arial"/>
                          <a:cs typeface="Arial"/>
                        </a:rPr>
                        <a:t>89.6%</a:t>
                      </a:r>
                    </a:p>
                  </a:txBody>
                  <a:tcPr marL="91440" marR="91440" marT="45720" marB="45720" anchor="ctr">
                    <a:solidFill>
                      <a:srgbClr val="111C25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D7E3E7"/>
                          </a:solidFill>
                          <a:latin typeface="Arial"/>
                          <a:ea typeface="Arial"/>
                          <a:cs typeface="Arial"/>
                        </a:rPr>
                        <a:t>An always-loss rule scores 93.75%; accuracy alone misleads.</a:t>
                      </a:r>
                    </a:p>
                  </a:txBody>
                  <a:tcPr marL="91440" marR="91440" marT="45720" marB="45720" anchor="ctr">
                    <a:solidFill>
                      <a:srgbClr val="111C25"/>
                    </a:solidFill>
                  </a:tcPr>
                </a:tc>
              </a:tr>
              <a:tr h="4095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D7E3E7"/>
                          </a:solidFill>
                          <a:latin typeface="Arial"/>
                          <a:ea typeface="Arial"/>
                          <a:cs typeface="Arial"/>
                        </a:rPr>
                        <a:t>Top-one accuracy</a:t>
                      </a:r>
                    </a:p>
                  </a:txBody>
                  <a:tcPr marL="91440" marR="91440" marT="45720" marB="45720" anchor="ctr">
                    <a:solidFill>
                      <a:srgbClr val="15222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EDF3F5"/>
                          </a:solidFill>
                          <a:latin typeface="Arial"/>
                          <a:ea typeface="Arial"/>
                          <a:cs typeface="Arial"/>
                        </a:rPr>
                        <a:t>16.7% · 1/6</a:t>
                      </a:r>
                    </a:p>
                  </a:txBody>
                  <a:tcPr marL="91440" marR="91440" marT="45720" marB="45720" anchor="ctr">
                    <a:solidFill>
                      <a:srgbClr val="15222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D7E3E7"/>
                          </a:solidFill>
                          <a:latin typeface="Arial"/>
                          <a:ea typeface="Arial"/>
                          <a:cs typeface="Arial"/>
                        </a:rPr>
                        <a:t>The model ranked the actual winner first once.</a:t>
                      </a:r>
                    </a:p>
                  </a:txBody>
                  <a:tcPr marL="91440" marR="91440" marT="45720" marB="45720" anchor="ctr">
                    <a:solidFill>
                      <a:srgbClr val="15222C"/>
                    </a:solidFill>
                  </a:tcPr>
                </a:tc>
              </a:tr>
              <a:tr h="4095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D7E3E7"/>
                          </a:solidFill>
                          <a:latin typeface="Arial"/>
                          <a:ea typeface="Arial"/>
                          <a:cs typeface="Arial"/>
                        </a:rPr>
                        <a:t>ROC-AUC</a:t>
                      </a:r>
                    </a:p>
                  </a:txBody>
                  <a:tcPr marL="91440" marR="91440" marT="45720" marB="45720" anchor="ctr">
                    <a:solidFill>
                      <a:srgbClr val="111C25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EDF3F5"/>
                          </a:solidFill>
                          <a:latin typeface="Arial"/>
                          <a:ea typeface="Arial"/>
                          <a:cs typeface="Arial"/>
                        </a:rPr>
                        <a:t>0.5444</a:t>
                      </a:r>
                    </a:p>
                  </a:txBody>
                  <a:tcPr marL="91440" marR="91440" marT="45720" marB="45720" anchor="ctr">
                    <a:solidFill>
                      <a:srgbClr val="111C25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D7E3E7"/>
                          </a:solidFill>
                          <a:latin typeface="Arial"/>
                          <a:ea typeface="Arial"/>
                          <a:cs typeface="Arial"/>
                        </a:rPr>
                        <a:t>Weak ranking signal; close to 0.5 on six lobbies.</a:t>
                      </a:r>
                    </a:p>
                  </a:txBody>
                  <a:tcPr marL="91440" marR="91440" marT="45720" marB="45720" anchor="ctr">
                    <a:solidFill>
                      <a:srgbClr val="111C25"/>
                    </a:solidFill>
                  </a:tcPr>
                </a:tc>
              </a:tr>
              <a:tr h="4095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D7E3E7"/>
                          </a:solidFill>
                          <a:latin typeface="Arial"/>
                          <a:ea typeface="Arial"/>
                          <a:cs typeface="Arial"/>
                        </a:rPr>
                        <a:t>Conditional match log loss</a:t>
                      </a:r>
                    </a:p>
                  </a:txBody>
                  <a:tcPr marL="91440" marR="91440" marT="45720" marB="45720" anchor="ctr">
                    <a:solidFill>
                      <a:srgbClr val="15222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EDF3F5"/>
                          </a:solidFill>
                          <a:latin typeface="Arial"/>
                          <a:ea typeface="Arial"/>
                          <a:cs typeface="Arial"/>
                        </a:rPr>
                        <a:t>2.7640</a:t>
                      </a:r>
                    </a:p>
                  </a:txBody>
                  <a:tcPr marL="91440" marR="91440" marT="45720" marB="45720" anchor="ctr">
                    <a:solidFill>
                      <a:srgbClr val="15222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D7E3E7"/>
                          </a:solidFill>
                          <a:latin typeface="Arial"/>
                          <a:ea typeface="Arial"/>
                          <a:cs typeface="Arial"/>
                        </a:rPr>
                        <a:t>Selection metric; this six-match estimate is unstable.</a:t>
                      </a:r>
                    </a:p>
                  </a:txBody>
                  <a:tcPr marL="91440" marR="91440" marT="45720" marB="45720" anchor="ctr">
                    <a:solidFill>
                      <a:srgbClr val="15222C"/>
                    </a:solidFill>
                  </a:tcPr>
                </a:tc>
              </a:tr>
              <a:tr h="4095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D7E3E7"/>
                          </a:solidFill>
                          <a:latin typeface="Arial"/>
                          <a:ea typeface="Arial"/>
                          <a:cs typeface="Arial"/>
                        </a:rPr>
                        <a:t>Brier score</a:t>
                      </a:r>
                    </a:p>
                  </a:txBody>
                  <a:tcPr marL="91440" marR="91440" marT="45720" marB="45720" anchor="ctr">
                    <a:solidFill>
                      <a:srgbClr val="111C25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EDF3F5"/>
                          </a:solidFill>
                          <a:latin typeface="Arial"/>
                          <a:ea typeface="Arial"/>
                          <a:cs typeface="Arial"/>
                        </a:rPr>
                        <a:t>0.05854</a:t>
                      </a:r>
                    </a:p>
                  </a:txBody>
                  <a:tcPr marL="91440" marR="91440" marT="45720" marB="45720" anchor="ctr">
                    <a:solidFill>
                      <a:srgbClr val="111C25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D7E3E7"/>
                          </a:solidFill>
                          <a:latin typeface="Arial"/>
                          <a:ea typeface="Arial"/>
                          <a:cs typeface="Arial"/>
                        </a:rPr>
                        <a:t>Compare with a baseline before trusting probability quality.</a:t>
                      </a:r>
                    </a:p>
                  </a:txBody>
                  <a:tcPr marL="91440" marR="91440" marT="45720" marB="45720" anchor="ctr">
                    <a:solidFill>
                      <a:srgbClr val="111C25"/>
                    </a:solidFill>
                  </a:tcPr>
                </a:tc>
              </a:tr>
            </a:tbl>
          </a:graphicData>
        </a:graphic>
      </p:graphicFrame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3AFDF5-1B68-4983-89FF-1B6B7518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1625"/>
            <a:ext cx="10668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558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7B7C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7B7C0"/>
                </a:solidFill>
                <a:latin typeface="Arial"/>
                <a:ea typeface="Arial"/>
                <a:cs typeface="Arial"/>
              </a:rPr>
              <a:t>Most influential features: points variability 17.1% · finishes variability 14.0% · prior average points 12.5%. Importance describes model behavior; it does not prove cause.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C4DE91-1042-4A8B-9041-F6F48A42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9775"/>
            <a:ext cx="10782300" cy="514350"/>
          </a:xfrm>
          <a:prstGeom xmlns:a="http://schemas.openxmlformats.org/drawingml/2006/main" prst="roundRect">
            <a:avLst>
              <a:gd name="adj" fmla="val 20370"/>
            </a:avLst>
          </a:prstGeom>
          <a:solidFill xmlns:a="http://schemas.openxmlformats.org/drawingml/2006/main">
            <a:srgbClr val="272218"/>
          </a:solidFill>
          <a:ln xmlns:a="http://schemas.openxmlformats.org/drawingml/2006/main" w="9525">
            <a:solidFill>
              <a:srgbClr val="5C462D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AE7EED-67BE-4338-8600-1C38C95C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876925"/>
            <a:ext cx="10429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B4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46B"/>
                </a:solidFill>
                <a:latin typeface="Arial"/>
                <a:ea typeface="Arial"/>
                <a:cs typeface="Arial"/>
              </a:rPr>
              <a:t>Review: experimental only. Six test matches are too few to claim dependable win probabilities.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1F2136-3678-4993-971A-CEFAEAB7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03A"/>
          </a:solidFill>
          <a:ln xmlns:a="http://schemas.openxmlformats.org/drawingml/2006/main" w="0">
            <a:solidFill>
              <a:srgbClr val="20303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819374-3314-4A08-BB88-12F7AC63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43675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E929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E929D"/>
                </a:solidFill>
                <a:latin typeface="Arial"/>
                <a:ea typeface="Arial"/>
                <a:cs typeface="Arial"/>
              </a:rPr>
              <a:t>Source: project model_comparison.csv and model_metadata.json; final six complete matches held out.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A21DBB-A5BB-4A79-B238-8EBA8F0F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65246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9F36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9F36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120048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1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15BF39-A65C-46DA-B582-CFC26DAF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D8C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4D8CB"/>
                </a:solidFill>
                <a:latin typeface="Arial"/>
                <a:ea typeface="Arial"/>
                <a:cs typeface="Arial"/>
              </a:rPr>
              <a:t>SECOND MODEL  ·  PLAYER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FBCD48-57C3-4D0E-A7D6-51324D46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876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DF3F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DF3F5"/>
                </a:solidFill>
                <a:latin typeface="Arial"/>
                <a:ea typeface="Arial"/>
                <a:cs typeface="Arial"/>
              </a:rPr>
              <a:t>Player finishes forecast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B68B84-1C55-461B-A786-F3B0E104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620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7B7C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7B7C0"/>
                </a:solidFill>
                <a:latin typeface="Arial"/>
                <a:ea typeface="Arial"/>
                <a:cs typeface="Arial"/>
              </a:rPr>
              <a:t>An MVP-style finish estimate, not an official MVP-award probability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38CDEF-99CF-492A-A48E-FD269F9D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B46"/>
          </a:solidFill>
          <a:ln xmlns:a="http://schemas.openxmlformats.org/drawingml/2006/main" w="0">
            <a:solidFill>
              <a:srgbClr val="2A3B4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B395B5-25B7-4A91-AA1D-5F501F2E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19275"/>
            <a:ext cx="509587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4202B"/>
          </a:solidFill>
          <a:ln xmlns:a="http://schemas.openxmlformats.org/drawingml/2006/main" w="9525">
            <a:solidFill>
              <a:srgbClr val="2A3B4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8465DA-AF9C-4F1D-B342-6FEC2DD1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4791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B7C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7B7C0"/>
                </a:solidFill>
                <a:latin typeface="Arial"/>
                <a:ea typeface="Arial"/>
                <a:cs typeface="Arial"/>
              </a:rPr>
              <a:t>CHRONOLOGICAL HOLDOUT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B1C633-D48A-4D2B-8E25-602FE248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4791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7701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C9F36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C9F36A"/>
                </a:solidFill>
                <a:latin typeface="Arial"/>
                <a:ea typeface="Arial"/>
                <a:cs typeface="Arial"/>
              </a:rPr>
              <a:t>6 matches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469157-025D-442D-8558-B7D0D497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90775"/>
            <a:ext cx="47910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7C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7B7C0"/>
                </a:solidFill>
                <a:latin typeface="Arial"/>
                <a:ea typeface="Arial"/>
                <a:cs typeface="Arial"/>
              </a:rPr>
              <a:t>384 player-match rows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C2167E-DD66-40E6-BB27-6EFB93DA4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19275"/>
            <a:ext cx="50768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4202B"/>
          </a:solidFill>
          <a:ln xmlns:a="http://schemas.openxmlformats.org/drawingml/2006/main" w="9525">
            <a:solidFill>
              <a:srgbClr val="2A3B4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1C34E7-615E-4D2C-987C-17BC63C0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905000"/>
            <a:ext cx="47720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B7C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7B7C0"/>
                </a:solidFill>
                <a:latin typeface="Arial"/>
                <a:ea typeface="Arial"/>
                <a:cs typeface="Arial"/>
              </a:rPr>
              <a:t>SELECTED METHOD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05076F-69A6-4C58-B4CC-51EE8C77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076450"/>
            <a:ext cx="4772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7701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C9F36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C9F36A"/>
                </a:solidFill>
                <a:latin typeface="Arial"/>
                <a:ea typeface="Arial"/>
                <a:cs typeface="Arial"/>
              </a:rPr>
              <a:t>Random Forest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62A619-0F9F-4E84-932D-ADBA2567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390775"/>
            <a:ext cx="47720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7C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7B7C0"/>
                </a:solidFill>
                <a:latin typeface="Arial"/>
                <a:ea typeface="Arial"/>
                <a:cs typeface="Arial"/>
              </a:rPr>
              <a:t>chosen by lower holdout MAE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B614AC-2A9C-4A5B-971D-B7B3A132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47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9F36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9F36A"/>
                </a:solidFill>
                <a:latin typeface="Arial"/>
                <a:ea typeface="Arial"/>
                <a:cs typeface="Arial"/>
              </a:rPr>
              <a:t>Held-out model comparison</a:t>
            </a:r>
          </a:p>
        </p:txBody>
      </p:sp>
      <p:graphicFrame>
        <p:nvGraphicFramePr>
          <p:cNvPr id="35" name=""/>
          <p:cNvGraphicFramePr/>
          <p:nvPr/>
        </p:nvGraphicFramePr>
        <p:xfrm>
          <a:off xmlns:a="http://schemas.openxmlformats.org/drawingml/2006/main" x="704850" y="3200400"/>
          <a:ext xmlns:a="http://schemas.openxmlformats.org/drawingml/2006/main" cx="10782300" cy="1657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2095500"/>
                <a:gridCol w="2095500"/>
                <a:gridCol w="2590800"/>
              </a:tblGrid>
              <a:tr h="55245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C9F36A"/>
                          </a:solidFill>
                          <a:latin typeface="Arial"/>
                          <a:ea typeface="Arial"/>
                          <a:cs typeface="Arial"/>
                        </a:rPr>
                        <a:t>Method</a:t>
                      </a:r>
                    </a:p>
                  </a:txBody>
                  <a:tcPr marL="91440" marR="91440" marT="45720" marB="45720" anchor="ctr">
                    <a:solidFill>
                      <a:srgbClr val="20313B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C9F36A"/>
                          </a:solidFill>
                          <a:latin typeface="Arial"/>
                          <a:ea typeface="Arial"/>
                          <a:cs typeface="Arial"/>
                        </a:rPr>
                        <a:t>MAE ↓</a:t>
                      </a:r>
                    </a:p>
                  </a:txBody>
                  <a:tcPr marL="91440" marR="91440" marT="45720" marB="45720" anchor="ctr">
                    <a:solidFill>
                      <a:srgbClr val="20313B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C9F36A"/>
                          </a:solidFill>
                          <a:latin typeface="Arial"/>
                          <a:ea typeface="Arial"/>
                          <a:cs typeface="Arial"/>
                        </a:rPr>
                        <a:t>RMSE ↓</a:t>
                      </a:r>
                    </a:p>
                  </a:txBody>
                  <a:tcPr marL="91440" marR="91440" marT="45720" marB="45720" anchor="ctr">
                    <a:solidFill>
                      <a:srgbClr val="20313B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C9F36A"/>
                          </a:solidFill>
                          <a:latin typeface="Arial"/>
                          <a:ea typeface="Arial"/>
                          <a:cs typeface="Arial"/>
                        </a:rPr>
                        <a:t>R² ↑</a:t>
                      </a:r>
                    </a:p>
                  </a:txBody>
                  <a:tcPr marL="91440" marR="91440" marT="45720" marB="45720" anchor="ctr">
                    <a:solidFill>
                      <a:srgbClr val="20313B"/>
                    </a:solidFill>
                  </a:tcPr>
                </a:tc>
              </a:tr>
              <a:tr h="55245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650" b="0">
                          <a:solidFill>
                            <a:srgbClr val="D7E3E7"/>
                          </a:solidFill>
                          <a:latin typeface="Arial"/>
                          <a:ea typeface="Arial"/>
                          <a:cs typeface="Arial"/>
                        </a:rPr>
                        <a:t>Random Forest regressor</a:t>
                      </a:r>
                    </a:p>
                  </a:txBody>
                  <a:tcPr marL="91440" marR="91440" marT="45720" marB="45720" anchor="ctr">
                    <a:solidFill>
                      <a:srgbClr val="111C25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650" b="1">
                          <a:solidFill>
                            <a:srgbClr val="EDF3F5"/>
                          </a:solidFill>
                          <a:latin typeface="Arial"/>
                          <a:ea typeface="Arial"/>
                          <a:cs typeface="Arial"/>
                        </a:rPr>
                        <a:t>1.092</a:t>
                      </a:r>
                    </a:p>
                  </a:txBody>
                  <a:tcPr marL="91440" marR="91440" marT="45720" marB="45720" anchor="ctr">
                    <a:solidFill>
                      <a:srgbClr val="111C25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650" b="0">
                          <a:solidFill>
                            <a:srgbClr val="D7E3E7"/>
                          </a:solidFill>
                          <a:latin typeface="Arial"/>
                          <a:ea typeface="Arial"/>
                          <a:cs typeface="Arial"/>
                        </a:rPr>
                        <a:t>1.436</a:t>
                      </a:r>
                    </a:p>
                  </a:txBody>
                  <a:tcPr marL="91440" marR="91440" marT="45720" marB="45720" anchor="ctr">
                    <a:solidFill>
                      <a:srgbClr val="111C25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650" b="0">
                          <a:solidFill>
                            <a:srgbClr val="D7E3E7"/>
                          </a:solidFill>
                          <a:latin typeface="Arial"/>
                          <a:ea typeface="Arial"/>
                          <a:cs typeface="Arial"/>
                        </a:rPr>
                        <a:t>−0.005</a:t>
                      </a:r>
                    </a:p>
                  </a:txBody>
                  <a:tcPr marL="91440" marR="91440" marT="45720" marB="45720" anchor="ctr">
                    <a:solidFill>
                      <a:srgbClr val="111C25"/>
                    </a:solidFill>
                  </a:tcPr>
                </a:tc>
              </a:tr>
              <a:tr h="55245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650" b="0">
                          <a:solidFill>
                            <a:srgbClr val="D7E3E7"/>
                          </a:solidFill>
                          <a:latin typeface="Arial"/>
                          <a:ea typeface="Arial"/>
                          <a:cs typeface="Arial"/>
                        </a:rPr>
                        <a:t>Rolling-average baseline</a:t>
                      </a:r>
                    </a:p>
                  </a:txBody>
                  <a:tcPr marL="91440" marR="91440" marT="45720" marB="45720" anchor="ctr">
                    <a:solidFill>
                      <a:srgbClr val="15222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650" b="1">
                          <a:solidFill>
                            <a:srgbClr val="EDF3F5"/>
                          </a:solidFill>
                          <a:latin typeface="Arial"/>
                          <a:ea typeface="Arial"/>
                          <a:cs typeface="Arial"/>
                        </a:rPr>
                        <a:t>1.107</a:t>
                      </a:r>
                    </a:p>
                  </a:txBody>
                  <a:tcPr marL="91440" marR="91440" marT="45720" marB="45720" anchor="ctr">
                    <a:solidFill>
                      <a:srgbClr val="15222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650" b="0">
                          <a:solidFill>
                            <a:srgbClr val="D7E3E7"/>
                          </a:solidFill>
                          <a:latin typeface="Arial"/>
                          <a:ea typeface="Arial"/>
                          <a:cs typeface="Arial"/>
                        </a:rPr>
                        <a:t>1.424</a:t>
                      </a:r>
                    </a:p>
                  </a:txBody>
                  <a:tcPr marL="91440" marR="91440" marT="45720" marB="45720" anchor="ctr">
                    <a:solidFill>
                      <a:srgbClr val="15222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650" b="0">
                          <a:solidFill>
                            <a:srgbClr val="D7E3E7"/>
                          </a:solidFill>
                          <a:latin typeface="Arial"/>
                          <a:ea typeface="Arial"/>
                          <a:cs typeface="Arial"/>
                        </a:rPr>
                        <a:t>0.011</a:t>
                      </a:r>
                    </a:p>
                  </a:txBody>
                  <a:tcPr marL="91440" marR="91440" marT="45720" marB="45720" anchor="ctr">
                    <a:solidFill>
                      <a:srgbClr val="15222C"/>
                    </a:solidFill>
                  </a:tcPr>
                </a:tc>
              </a:tr>
            </a:tbl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DF24D5-FBAA-4AFE-8E19-37205FBC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38725"/>
            <a:ext cx="1078230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14202B"/>
          </a:solidFill>
          <a:ln xmlns:a="http://schemas.openxmlformats.org/drawingml/2006/main" w="9525">
            <a:solidFill>
              <a:srgbClr val="2A3B4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FDA2B5-634D-4182-8D8D-1E7C4CB1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14925"/>
            <a:ext cx="10382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7E3E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7E3E7"/>
                </a:solidFill>
                <a:latin typeface="Arial"/>
                <a:ea typeface="Arial"/>
                <a:cs typeface="Arial"/>
              </a:rPr>
              <a:t>Mixed evidence: MAE improves by just 0.015 finishes per player-match, while RMSE and R² are worse than the baseline.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96C6FF-D08B-45AE-9D9F-DED86520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81675"/>
            <a:ext cx="10782300" cy="552450"/>
          </a:xfrm>
          <a:prstGeom xmlns:a="http://schemas.openxmlformats.org/drawingml/2006/main" prst="roundRect">
            <a:avLst>
              <a:gd name="adj" fmla="val 18966"/>
            </a:avLst>
          </a:prstGeom>
          <a:solidFill xmlns:a="http://schemas.openxmlformats.org/drawingml/2006/main">
            <a:srgbClr val="272218"/>
          </a:solidFill>
          <a:ln xmlns:a="http://schemas.openxmlformats.org/drawingml/2006/main" w="9525">
            <a:solidFill>
              <a:srgbClr val="5C462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D1FAE0-B4DF-434E-B44B-DA90CFFF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29300"/>
            <a:ext cx="10382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B46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B46B"/>
                </a:solidFill>
                <a:latin typeface="Arial"/>
                <a:ea typeface="Arial"/>
                <a:cs typeface="Arial"/>
              </a:rPr>
              <a:t>Use the output as an estimated finish count / likely finish leader. No validated MVP-award labels exist in the dataset.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23A324-A782-4F40-B4D0-8023B9D8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03A"/>
          </a:solidFill>
          <a:ln xmlns:a="http://schemas.openxmlformats.org/drawingml/2006/main" w="0">
            <a:solidFill>
              <a:srgbClr val="20303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629F6F-4384-46F1-A1CC-927A8E04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43675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E929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E929D"/>
                </a:solidFill>
                <a:latin typeface="Arial"/>
                <a:ea typeface="Arial"/>
                <a:cs typeface="Arial"/>
              </a:rPr>
              <a:t>Source: project player_finish_model_comparison.csv and player_finish_model_metadata.json.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5CB4EB-6B9B-46F9-B7B0-3F0D07A7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65246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9F36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9F36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950066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1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71B99F-49C3-430E-881C-C3C34692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F36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9F36A"/>
                </a:solidFill>
                <a:latin typeface="Arial"/>
                <a:ea typeface="Arial"/>
                <a:cs typeface="Arial"/>
              </a:rPr>
              <a:t>MODEL DEVELOPMENT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623132-7CA9-4A96-B1FC-90FFC97A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DF3F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DF3F5"/>
                </a:solidFill>
                <a:latin typeface="Arial"/>
                <a:ea typeface="Arial"/>
                <a:cs typeface="Arial"/>
              </a:rPr>
              <a:t>What will improve the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563EE6-5CF8-4F76-8564-C31D1664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620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7B7C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7B7C0"/>
                </a:solidFill>
                <a:latin typeface="Arial"/>
                <a:ea typeface="Arial"/>
                <a:cs typeface="Arial"/>
              </a:rPr>
              <a:t>More trustworthy validation matters more than adding model complexity.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374BFD-C2B6-4742-BED5-8B99E630A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B46"/>
          </a:solidFill>
          <a:ln xmlns:a="http://schemas.openxmlformats.org/drawingml/2006/main" w="0">
            <a:solidFill>
              <a:srgbClr val="2A3B4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C757F9-A8FE-4AF0-9C86-A0EB2F21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107823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4202B"/>
          </a:solidFill>
          <a:ln xmlns:a="http://schemas.openxmlformats.org/drawingml/2006/main" w="9525">
            <a:solidFill>
              <a:srgbClr val="2A3B4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39672B-E166-43D9-8C93-F47D7C3E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971675"/>
            <a:ext cx="428625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26351E"/>
          </a:solidFill>
          <a:ln xmlns:a="http://schemas.openxmlformats.org/drawingml/2006/main" w="9525">
            <a:solidFill>
              <a:srgbClr val="53693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A0E00C-2E57-4A08-B737-CE9B590E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971675"/>
            <a:ext cx="428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9F36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9F36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13C8BA-7869-4064-8CDE-90AB3BFE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895475"/>
            <a:ext cx="9753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DF3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DF3F5"/>
                </a:solidFill>
                <a:latin typeface="Arial"/>
                <a:ea typeface="Arial"/>
                <a:cs typeface="Arial"/>
              </a:rPr>
              <a:t>Expand verified match history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86BABB-62CB-4C62-B83D-E2DAA1E8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1526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7C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B7C0"/>
                </a:solidFill>
                <a:latin typeface="Arial"/>
                <a:ea typeface="Arial"/>
                <a:cs typeface="Arial"/>
              </a:rPr>
              <a:t>Add complete official scorecards; check match order, team names, and exactly one WWCD winner per match.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0666E7-B039-4E32-B668-3C379147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107823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4202B"/>
          </a:solidFill>
          <a:ln xmlns:a="http://schemas.openxmlformats.org/drawingml/2006/main" w="9525">
            <a:solidFill>
              <a:srgbClr val="2A3B4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029E09-C292-4E55-984C-72EFF084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809875"/>
            <a:ext cx="428625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26351E"/>
          </a:solidFill>
          <a:ln xmlns:a="http://schemas.openxmlformats.org/drawingml/2006/main" w="9525">
            <a:solidFill>
              <a:srgbClr val="53693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C241FA-9C8A-4897-90A1-BB31421F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809875"/>
            <a:ext cx="428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9F36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9F36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54B962-7D91-45FF-A5D5-6E0E11B4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733675"/>
            <a:ext cx="9753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DF3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DF3F5"/>
                </a:solidFill>
                <a:latin typeface="Arial"/>
                <a:ea typeface="Arial"/>
                <a:cs typeface="Arial"/>
              </a:rPr>
              <a:t>Test across more future blocks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0A478C-A743-45C8-B832-CDB2152C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9908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7C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B7C0"/>
                </a:solidFill>
                <a:latin typeface="Arial"/>
                <a:ea typeface="Arial"/>
                <a:cs typeface="Arial"/>
              </a:rPr>
              <a:t>Use several rolling chronological holdouts and unseen-tournament checks; keep every match group intact.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113FE4-B313-4B4B-B7B5-D9E444DD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86150"/>
            <a:ext cx="107823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4202B"/>
          </a:solidFill>
          <a:ln xmlns:a="http://schemas.openxmlformats.org/drawingml/2006/main" w="9525">
            <a:solidFill>
              <a:srgbClr val="2A3B4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8E4285-23FC-4681-B72B-9D846BB9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648075"/>
            <a:ext cx="428625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26351E"/>
          </a:solidFill>
          <a:ln xmlns:a="http://schemas.openxmlformats.org/drawingml/2006/main" w="9525">
            <a:solidFill>
              <a:srgbClr val="53693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7C9634-600E-422B-9FAC-AD568AA6A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648075"/>
            <a:ext cx="428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9F36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9F36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F33526-6568-4B64-B63D-7E57778C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571875"/>
            <a:ext cx="9753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DF3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DF3F5"/>
                </a:solidFill>
                <a:latin typeface="Arial"/>
                <a:ea typeface="Arial"/>
                <a:cs typeface="Arial"/>
              </a:rPr>
              <a:t>Add only source-backed features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0191D1-A060-4CBF-BF13-4502FD15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8290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7C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B7C0"/>
                </a:solidFill>
                <a:latin typeface="Arial"/>
                <a:ea typeface="Arial"/>
                <a:cs typeface="Arial"/>
              </a:rPr>
              <a:t>Use stage, map, roster, and player form only when the source provides reliable values. Do not invent damage or survival data.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E77DC6-AA45-428D-AB13-8E0BEDDD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24350"/>
            <a:ext cx="107823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4202B"/>
          </a:solidFill>
          <a:ln xmlns:a="http://schemas.openxmlformats.org/drawingml/2006/main" w="9525">
            <a:solidFill>
              <a:srgbClr val="2A3B4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AA007C-2588-4BC1-B99F-30458760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486275"/>
            <a:ext cx="428625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26351E"/>
          </a:solidFill>
          <a:ln xmlns:a="http://schemas.openxmlformats.org/drawingml/2006/main" w="9525">
            <a:solidFill>
              <a:srgbClr val="53693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07624B-DFFC-46C2-A052-5B71B65D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486275"/>
            <a:ext cx="428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9F36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9F36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685D66-01B4-4274-B2B5-2BDCDF0F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410075"/>
            <a:ext cx="9753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DF3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DF3F5"/>
                </a:solidFill>
                <a:latin typeface="Arial"/>
                <a:ea typeface="Arial"/>
                <a:cs typeface="Arial"/>
              </a:rPr>
              <a:t>Compare against simple baselines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11A918-4518-4625-9BF6-5FDEF357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6672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7C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B7C0"/>
                </a:solidFill>
                <a:latin typeface="Arial"/>
                <a:ea typeface="Arial"/>
                <a:cs typeface="Arial"/>
              </a:rPr>
              <a:t>Track per-lobby log loss, Brier score, calibration, and winner-ranked-first rate; report uncertainty from the small sample.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787DBD-9A37-4856-9DEF-AA81D685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782300" cy="1133475"/>
          </a:xfrm>
          <a:prstGeom xmlns:a="http://schemas.openxmlformats.org/drawingml/2006/main" prst="roundRect">
            <a:avLst>
              <a:gd name="adj" fmla="val 10084"/>
            </a:avLst>
          </a:prstGeom>
          <a:solidFill xmlns:a="http://schemas.openxmlformats.org/drawingml/2006/main">
            <a:srgbClr val="172824"/>
          </a:solidFill>
          <a:ln xmlns:a="http://schemas.openxmlformats.org/drawingml/2006/main" w="9525">
            <a:solidFill>
              <a:srgbClr val="3C605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6A596C-F17E-457A-B7D9-8381F60A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24475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9F36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9F36A"/>
                </a:solidFill>
                <a:latin typeface="Arial"/>
                <a:ea typeface="Arial"/>
                <a:cs typeface="Arial"/>
              </a:rPr>
              <a:t>Jupyter Notebook: yes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2371C3-2352-4755-91B8-4E727F0C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1022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3E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E3E7"/>
                </a:solidFill>
                <a:latin typeface="Arial"/>
                <a:ea typeface="Arial"/>
                <a:cs typeface="Arial"/>
              </a:rPr>
              <a:t>Use notebooks/BGMI_Winning_Probability_Analysis.ipynb for the dataset walkthrough, cleaning, EDA, leakage-safe features, chronological evaluation, calibration, and saved artifacts. Flask loads the saved model; it does not retrain when the site starts.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EA5B30-B21C-44AC-BEAF-160F23898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03A"/>
          </a:solidFill>
          <a:ln xmlns:a="http://schemas.openxmlformats.org/drawingml/2006/main" w="0">
            <a:solidFill>
              <a:srgbClr val="20303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395655-4C12-4559-AEBE-157CA03C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43675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E929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E929D"/>
                </a:solidFill>
                <a:latin typeface="Arial"/>
                <a:ea typeface="Arial"/>
                <a:cs typeface="Arial"/>
              </a:rPr>
              <a:t>Notebook and training workflow: project README.md; validation recommendations use the observed holdout limits.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F73ED9-3E56-4251-99A1-0A2333C0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65246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9F36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9F36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866707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2026-10-02T15:30:13.5140000Z</dcterms:created>
  <dcterms:modified xsi:type="dcterms:W3CDTF">2026-10-02T15:30:13.5150000Z</dcterms:modified>
</coreProperties>
</file>