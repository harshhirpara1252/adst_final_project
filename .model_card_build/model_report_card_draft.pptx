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cd081c810b4dea" /><Relationship Type="http://schemas.openxmlformats.org/officeDocument/2006/relationships/extended-properties" Target="/docProps/app.xml" Id="Rd8595072855648bd" /><Relationship Type="http://schemas.openxmlformats.org/officeDocument/2006/relationships/officeDocument" Target="/ppt/presentation.xml" Id="R448400a0f29e48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c70c6d20954203"/>
  </p:sldMasterIdLst>
  <p:notesMasterIdLst>
    <p:notesMasterId xmlns:r="http://schemas.openxmlformats.org/officeDocument/2006/relationships" r:id="R0f732baa1d7448a8"/>
  </p:notesMasterIdLst>
  <p:sldIdLst>
    <p:sldId xmlns:r="http://schemas.openxmlformats.org/officeDocument/2006/relationships" id="256" r:id="R27f3af2d03754e9f"/>
    <p:sldId xmlns:r="http://schemas.openxmlformats.org/officeDocument/2006/relationships" id="257" r:id="Rc10e7a2e926d4443"/>
    <p:sldId xmlns:r="http://schemas.openxmlformats.org/officeDocument/2006/relationships" id="258" r:id="Rce028ba762b041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b5201707c4477a" /><Relationship Type="http://schemas.openxmlformats.org/officeDocument/2006/relationships/slideMaster" Target="/ppt/slideMasters/slideMaster1.xml" Id="R09c70c6d20954203" /><Relationship Type="http://schemas.openxmlformats.org/officeDocument/2006/relationships/notesMaster" Target="/ppt/notesMasters/notesMaster1.xml" Id="R0f732baa1d7448a8" /><Relationship Type="http://schemas.openxmlformats.org/officeDocument/2006/relationships/presProps" Target="/ppt/presProps.xml" Id="Ra56761864ecb4e9b" /><Relationship Type="http://schemas.openxmlformats.org/officeDocument/2006/relationships/tableStyles" Target="/ppt/tableStyles.xml" Id="R05ac177b8fe3453e" /><Relationship Type="http://schemas.openxmlformats.org/officeDocument/2006/relationships/slide" Target="/ppt/slides/slide1.xml" Id="R27f3af2d03754e9f" /><Relationship Type="http://schemas.openxmlformats.org/officeDocument/2006/relationships/slide" Target="/ppt/slides/slide2.xml" Id="Rc10e7a2e926d4443" /><Relationship Type="http://schemas.openxmlformats.org/officeDocument/2006/relationships/slide" Target="/ppt/slides/slide3.xml" Id="Rce028ba762b041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46ad4ab0f44d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8fdef469e446a5" /><Relationship Type="http://schemas.openxmlformats.org/officeDocument/2006/relationships/notesMaster" Target="/ppt/notesMasters/notesMaster1.xml" Id="Rfc814286dd7948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a1a8d0c94e492c" /><Relationship Type="http://schemas.openxmlformats.org/officeDocument/2006/relationships/notesMaster" Target="/ppt/notesMasters/notesMaster1.xml" Id="Reeab0a3d911943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d8c364897f4fef" /><Relationship Type="http://schemas.openxmlformats.org/officeDocument/2006/relationships/notesMaster" Target="/ppt/notesMasters/notesMaster1.xml" Id="R570ceb01522942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D:/BGI_Win_Probability/reports/model_results/model_comparison.csv and model_metadata.json. The Random Forest was selected by the lowest held-out conditional match log loss; calibration used expanding chronological match-group folds. The test contains six later matches (96 team rows), so the result is preliminary. The always-loss accuracy baseline is 90/96 = 93.75%, based on six winning team rows among 96 team rows. Feature importance is descriptive and not causal.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D:/BGI_Win_Probability/reports/model_results/player_finish_model_comparison.csv and player_finish_model_metadata.json. The test covers six chronological matches and 384 player-match rows. Random Forest MAE is 1.091915 and rolling-average MAE is 1.106989, a difference of 0.015073 finishes per player-match. Random Forest RMSE (1.435741) and R-squared (-0.004730) are worse than the rolling-average baseline (1.424499 and 0.010944). The source does not supply match-level MVP-award labels. This model predicts finishes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Jupyter notebook exists at D:/BGI_Win_Probability/notebooks/BGMI_Winning_Probability_Analysis.ipynb and contains the analysis/training workflow. The standalone script src/model_training.py can retrain and save the model outside Flask startup. Recommendations are based on the current six-match team holdout and six-match player holdout; features should only be added when actual tournament sources contain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07528672b4b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c301df88364eea" /><Relationship Type="http://schemas.openxmlformats.org/officeDocument/2006/relationships/slideLayout" Target="/ppt/slideLayouts/slideLayout1.xml" Id="Rc6b424c52e9e47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b424c52e9e47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af64518df4693" /><Relationship Type="http://schemas.openxmlformats.org/officeDocument/2006/relationships/notesSlide" Target="/ppt/notesSlides/notesSlide1.xml" Id="R5d4d5c5a65bb4b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c4d7b30d54549" /><Relationship Type="http://schemas.openxmlformats.org/officeDocument/2006/relationships/notesSlide" Target="/ppt/notesSlides/notesSlide2.xml" Id="Rc02ba21fd65740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27dd6e2e74bec" /><Relationship Type="http://schemas.openxmlformats.org/officeDocument/2006/relationships/notesSlide" Target="/ppt/notesSlides/notesSlide3.xml" Id="R0a9aa1f480904e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5E0A6B-0093-4611-8661-BAE230A7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MODEL REPORT CARD  ·  BGMI ESPORTS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67177-10D7-4FBC-8439-0E6B07EC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DF3F5"/>
                </a:solidFill>
                <a:latin typeface="Arial"/>
                <a:ea typeface="Arial"/>
                <a:cs typeface="Arial"/>
              </a:rPr>
              <a:t>Team match win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58B6C-8801-4165-95DF-8AC72D78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334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One-match WWCD probability · chronological test · 2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09D70-0264-4442-A6A1-A2750B3B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47700"/>
            <a:ext cx="2381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332719"/>
          </a:solidFill>
          <a:ln xmlns:a="http://schemas.openxmlformats.org/drawingml/2006/main" w="9525">
            <a:solidFill>
              <a:srgbClr val="70502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B7064-E2F1-463C-AC29-7CDC5A74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66750"/>
            <a:ext cx="2124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B4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6B"/>
                </a:solidFill>
                <a:latin typeface="Arial"/>
                <a:ea typeface="Arial"/>
                <a:cs typeface="Arial"/>
              </a:rPr>
              <a:t>PRELIMINARY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04678-AFAB-49AE-AB73-7EB895DC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B46"/>
          </a:solidFill>
          <a:ln xmlns:a="http://schemas.openxmlformats.org/drawingml/2006/main" w="0">
            <a:solidFill>
              <a:srgbClr val="2A3B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31876-2EA4-4ED1-8192-A0BC1876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371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62184-B6CC-4C3C-9720-44848EC5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81175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B7C0"/>
                </a:solidFill>
                <a:latin typeface="Arial"/>
                <a:ea typeface="Arial"/>
                <a:cs typeface="Arial"/>
              </a:rPr>
              <a:t>HISTORICAL 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BD6BB-86CE-40E8-A9D8-91FC042B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102 matches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454C9-A28F-43DB-931B-A82BE149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3067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1,632 team-match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97D3E-90D6-491E-B949-DA73D7B4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95450"/>
            <a:ext cx="3371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1CC9A-6B62-4623-B115-2980AA90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81175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B7C0"/>
                </a:solidFill>
                <a:latin typeface="Arial"/>
                <a:ea typeface="Arial"/>
                <a:cs typeface="Arial"/>
              </a:rPr>
              <a:t>CHRONOLOGICAL HOLDOUT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85EF1-BA8C-43CF-8F7A-29900C56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526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6 matches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D0DBE-E9A3-4963-8C41-9954458F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66950"/>
            <a:ext cx="3067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later matches · 96 team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895B1-21FB-4638-A3B9-53340D7D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3371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AFDCD-A704-4A13-A35A-94B19CC1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81175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B7C0"/>
                </a:solidFill>
                <a:latin typeface="Arial"/>
                <a:ea typeface="Arial"/>
                <a:cs typeface="Arial"/>
              </a:rPr>
              <a:t>WINNER RANKED 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6F52C-4E0E-493C-8640-1F5F4CBE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1 of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CC70D-6B57-468D-B294-BF54A138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067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16.7% top-one hit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5A949-2833-43C7-980F-103BB074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D8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D8CB"/>
                </a:solidFill>
                <a:latin typeface="Arial"/>
                <a:ea typeface="Arial"/>
                <a:cs typeface="Arial"/>
              </a:rPr>
              <a:t>Random Forest · sigmoid calibrated · target = match winner (WWCD)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704850" y="2857500"/>
          <a:ext xmlns:a="http://schemas.openxmlformats.org/drawingml/2006/main" cx="107823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1952625"/>
                <a:gridCol w="6400800"/>
              </a:tblGrid>
              <a:tr h="4095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F36A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91440" marR="91440" marT="45720" marB="45720" anchor="ctr">
                    <a:solidFill>
                      <a:srgbClr val="20313B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F36A"/>
                          </a:solidFill>
                          <a:latin typeface="Arial"/>
                          <a:ea typeface="Arial"/>
                          <a:cs typeface="Arial"/>
                        </a:rPr>
                        <a:t>Held-out result</a:t>
                      </a:r>
                    </a:p>
                  </a:txBody>
                  <a:tcPr marL="91440" marR="91440" marT="45720" marB="45720" anchor="ctr">
                    <a:solidFill>
                      <a:srgbClr val="20313B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F36A"/>
                          </a:solidFill>
                          <a:latin typeface="Arial"/>
                          <a:ea typeface="Arial"/>
                          <a:cs typeface="Arial"/>
                        </a:rPr>
                        <a:t>Review</a:t>
                      </a:r>
                    </a:p>
                  </a:txBody>
                  <a:tcPr marL="91440" marR="91440" marT="45720" marB="45720" anchor="ctr">
                    <a:solidFill>
                      <a:srgbClr val="20313B"/>
                    </a:solidFill>
                  </a:tcPr>
                </a:tc>
              </a:tr>
              <a:tr h="4095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Binary accuracy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EDF3F5"/>
                          </a:solidFill>
                          <a:latin typeface="Arial"/>
                          <a:ea typeface="Arial"/>
                          <a:cs typeface="Arial"/>
                        </a:rPr>
                        <a:t>89.6%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An always-loss rule scores 93.75%; accuracy alone misleads.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</a:tr>
              <a:tr h="4095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Top-one accuracy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EDF3F5"/>
                          </a:solidFill>
                          <a:latin typeface="Arial"/>
                          <a:ea typeface="Arial"/>
                          <a:cs typeface="Arial"/>
                        </a:rPr>
                        <a:t>16.7% · 1/6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The model ranked the actual winner first once.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</a:tr>
              <a:tr h="4095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EDF3F5"/>
                          </a:solidFill>
                          <a:latin typeface="Arial"/>
                          <a:ea typeface="Arial"/>
                          <a:cs typeface="Arial"/>
                        </a:rPr>
                        <a:t>0.5444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Weak ranking signal; close to 0.5 on six lobbies.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</a:tr>
              <a:tr h="4095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Conditional match log loss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EDF3F5"/>
                          </a:solidFill>
                          <a:latin typeface="Arial"/>
                          <a:ea typeface="Arial"/>
                          <a:cs typeface="Arial"/>
                        </a:rPr>
                        <a:t>2.7640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Selection metric; this six-match estimate is unstable.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</a:tr>
              <a:tr h="4095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Brier score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EDF3F5"/>
                          </a:solidFill>
                          <a:latin typeface="Arial"/>
                          <a:ea typeface="Arial"/>
                          <a:cs typeface="Arial"/>
                        </a:rPr>
                        <a:t>0.05854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Compare with a baseline before trusting probability quality.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9E156-9717-441C-95D7-BC798C9C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Most influential features: points variability 17.1% · finishes variability 14.0% · prior average points 12.5%. Importance describes model behavior; it does not prove cause.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4F735-2B8C-422F-9CAA-A6C4D236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10782300" cy="514350"/>
          </a:xfrm>
          <a:prstGeom xmlns:a="http://schemas.openxmlformats.org/drawingml/2006/main" prst="roundRect">
            <a:avLst>
              <a:gd name="adj" fmla="val 20370"/>
            </a:avLst>
          </a:prstGeom>
          <a:solidFill xmlns:a="http://schemas.openxmlformats.org/drawingml/2006/main">
            <a:srgbClr val="272218"/>
          </a:solidFill>
          <a:ln xmlns:a="http://schemas.openxmlformats.org/drawingml/2006/main" w="9525">
            <a:solidFill>
              <a:srgbClr val="5C462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0154A5-63AB-4E8B-B2E8-DF65AFB0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876925"/>
            <a:ext cx="1042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4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46B"/>
                </a:solidFill>
                <a:latin typeface="Arial"/>
                <a:ea typeface="Arial"/>
                <a:cs typeface="Arial"/>
              </a:rPr>
              <a:t>Review: experimental only. Six test matches are too few to claim dependable win probabilities.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8E0980-A35C-43AD-AA7B-FFEC849F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3A"/>
          </a:solidFill>
          <a:ln xmlns:a="http://schemas.openxmlformats.org/drawingml/2006/main" w="0">
            <a:solidFill>
              <a:srgbClr val="2030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F1973C-E256-494C-857A-7D714218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6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92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E929D"/>
                </a:solidFill>
                <a:latin typeface="Arial"/>
                <a:ea typeface="Arial"/>
                <a:cs typeface="Arial"/>
              </a:rPr>
              <a:t>Source: project model_comparison.csv and model_metadata.json; final six complete matches held out.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0F243B-0B67-48D3-98D9-710570F6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5246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9339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D427D-5292-46AB-A885-9C5E75A0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D8C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D8CB"/>
                </a:solidFill>
                <a:latin typeface="Arial"/>
                <a:ea typeface="Arial"/>
                <a:cs typeface="Arial"/>
              </a:rPr>
              <a:t>SECOND MODEL  ·  PLAYER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8724B-FE53-494A-A8C9-1F6C204F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DF3F5"/>
                </a:solidFill>
                <a:latin typeface="Arial"/>
                <a:ea typeface="Arial"/>
                <a:cs typeface="Arial"/>
              </a:rPr>
              <a:t>Player finishes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658D4-AAF7-4EE9-B4B1-B7388EE2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620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An MVP-style finish estimate, not an official MVP-award probability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57490-C70A-46FA-8CF3-31CCBCBA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B46"/>
          </a:solidFill>
          <a:ln xmlns:a="http://schemas.openxmlformats.org/drawingml/2006/main" w="0">
            <a:solidFill>
              <a:srgbClr val="2A3B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4B095-A5AA-45B9-B08C-E8F25FD7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5095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D4ADB-3C02-4CE0-A9D6-7501AD96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791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B7C0"/>
                </a:solidFill>
                <a:latin typeface="Arial"/>
                <a:ea typeface="Arial"/>
                <a:cs typeface="Arial"/>
              </a:rPr>
              <a:t>CHRONOLOGICAL HOLDOUT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A7D0C-EDF8-4188-8D32-5E5D3B5C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479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6 matches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ADB1D-CCBD-4ECD-B73D-B844776A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4791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384 player-match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9E52C-7479-4C3C-A177-21320E21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19275"/>
            <a:ext cx="50768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36944-7135-45AE-9698-4019E874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905000"/>
            <a:ext cx="4772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B7C0"/>
                </a:solidFill>
                <a:latin typeface="Arial"/>
                <a:ea typeface="Arial"/>
                <a:cs typeface="Arial"/>
              </a:rPr>
              <a:t>SELECTED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C42B3-E6F1-41E5-8AE3-E1FEA162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76450"/>
            <a:ext cx="477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5393F-00D0-421D-BA0E-756E5C8C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90775"/>
            <a:ext cx="4772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chosen by lower holdout MAE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31A49-7AD6-45AD-94CE-A044AFB0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Held-out model comparison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704850" y="3200400"/>
          <a:ext xmlns:a="http://schemas.openxmlformats.org/drawingml/2006/main" cx="1078230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095500"/>
                <a:gridCol w="2095500"/>
                <a:gridCol w="2590800"/>
              </a:tblGrid>
              <a:tr h="5524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F36A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20313B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F36A"/>
                          </a:solidFill>
                          <a:latin typeface="Arial"/>
                          <a:ea typeface="Arial"/>
                          <a:cs typeface="Arial"/>
                        </a:rPr>
                        <a:t>MAE ↓</a:t>
                      </a:r>
                    </a:p>
                  </a:txBody>
                  <a:tcPr marL="91440" marR="91440" marT="45720" marB="45720" anchor="ctr">
                    <a:solidFill>
                      <a:srgbClr val="20313B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F36A"/>
                          </a:solidFill>
                          <a:latin typeface="Arial"/>
                          <a:ea typeface="Arial"/>
                          <a:cs typeface="Arial"/>
                        </a:rPr>
                        <a:t>RMSE ↓</a:t>
                      </a:r>
                    </a:p>
                  </a:txBody>
                  <a:tcPr marL="91440" marR="91440" marT="45720" marB="45720" anchor="ctr">
                    <a:solidFill>
                      <a:srgbClr val="20313B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F36A"/>
                          </a:solidFill>
                          <a:latin typeface="Arial"/>
                          <a:ea typeface="Arial"/>
                          <a:cs typeface="Arial"/>
                        </a:rPr>
                        <a:t>R² ↑</a:t>
                      </a:r>
                    </a:p>
                  </a:txBody>
                  <a:tcPr marL="91440" marR="91440" marT="45720" marB="45720" anchor="ctr">
                    <a:solidFill>
                      <a:srgbClr val="20313B"/>
                    </a:solidFill>
                  </a:tcPr>
                </a:tc>
              </a:tr>
              <a:tr h="5524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Random Forest regressor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EDF3F5"/>
                          </a:solidFill>
                          <a:latin typeface="Arial"/>
                          <a:ea typeface="Arial"/>
                          <a:cs typeface="Arial"/>
                        </a:rPr>
                        <a:t>1.092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1.436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−0.005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</a:tr>
              <a:tr h="5524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Rolling-average baseline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EDF3F5"/>
                          </a:solidFill>
                          <a:latin typeface="Arial"/>
                          <a:ea typeface="Arial"/>
                          <a:cs typeface="Arial"/>
                        </a:rPr>
                        <a:t>1.107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1.424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0.011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9775C-8EF6-4B37-B082-86101973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38725"/>
            <a:ext cx="107823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E54A9-1BF7-4273-A311-C6E93656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1492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E3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7E3E7"/>
                </a:solidFill>
                <a:latin typeface="Arial"/>
                <a:ea typeface="Arial"/>
                <a:cs typeface="Arial"/>
              </a:rPr>
              <a:t>Mixed evidence: MAE improves by just 0.015 finishes per player-match, while RMSE and R² are worse than the baseline.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8D6EF-020D-49A1-8288-1FF4EB47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81675"/>
            <a:ext cx="10782300" cy="55245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272218"/>
          </a:solidFill>
          <a:ln xmlns:a="http://schemas.openxmlformats.org/drawingml/2006/main" w="9525">
            <a:solidFill>
              <a:srgbClr val="5C462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7E20F-0A84-4EEA-A8F2-723D538E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1038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4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46B"/>
                </a:solidFill>
                <a:latin typeface="Arial"/>
                <a:ea typeface="Arial"/>
                <a:cs typeface="Arial"/>
              </a:rPr>
              <a:t>Use the output as an estimated finish count / likely finish leader. No validated MVP-award labels exist in the dataset.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B1757-CDED-44B8-9AC3-23D7C92E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3A"/>
          </a:solidFill>
          <a:ln xmlns:a="http://schemas.openxmlformats.org/drawingml/2006/main" w="0">
            <a:solidFill>
              <a:srgbClr val="2030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A2794-CAA3-481D-A81D-7519DA1C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6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92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E929D"/>
                </a:solidFill>
                <a:latin typeface="Arial"/>
                <a:ea typeface="Arial"/>
                <a:cs typeface="Arial"/>
              </a:rPr>
              <a:t>Source: project player_finish_model_comparison.csv and player_finish_model_metadata.json.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40E6C-AD7B-442A-8658-00441E97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5246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5243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6949BA-9A41-4666-B765-627C679F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MODEL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C1575-295E-48D4-8249-F86AB92C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DF3F5"/>
                </a:solidFill>
                <a:latin typeface="Arial"/>
                <a:ea typeface="Arial"/>
                <a:cs typeface="Arial"/>
              </a:rPr>
              <a:t>What will improve the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69D4A-A404-4B17-B80D-E6C2902B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62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More trustworthy validation matters more than adding model complexity.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04CBC-E43B-457D-A2E9-A054B2D6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B46"/>
          </a:solidFill>
          <a:ln xmlns:a="http://schemas.openxmlformats.org/drawingml/2006/main" w="0">
            <a:solidFill>
              <a:srgbClr val="2A3B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67954-413A-486B-BCE9-209704C4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782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60847-56B9-49D0-9628-FDA51037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971675"/>
            <a:ext cx="42862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6351E"/>
          </a:solidFill>
          <a:ln xmlns:a="http://schemas.openxmlformats.org/drawingml/2006/main" w="9525">
            <a:solidFill>
              <a:srgbClr val="536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D6816-80FA-4B09-BAA1-AEE1DC6E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9716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2AFF3-1BEA-445B-90C8-3DC457A6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95475"/>
            <a:ext cx="975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3F5"/>
                </a:solidFill>
                <a:latin typeface="Arial"/>
                <a:ea typeface="Arial"/>
                <a:cs typeface="Arial"/>
              </a:rPr>
              <a:t>Expand verified match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F62EB-12DA-48FB-83D6-DFBCB5ED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526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Add complete official scorecards; check match order, team names, and exactly one WWCD winner per match.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B0509-572D-4B59-B0FE-7B5FC43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0782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ACB94-8890-4F05-98CE-0B9E26F3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09875"/>
            <a:ext cx="42862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6351E"/>
          </a:solidFill>
          <a:ln xmlns:a="http://schemas.openxmlformats.org/drawingml/2006/main" w="9525">
            <a:solidFill>
              <a:srgbClr val="5369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28927-40A8-4BB0-95C9-A2AD7304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098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0CBBE-4FCB-4576-BD49-E71E6107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33675"/>
            <a:ext cx="975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3F5"/>
                </a:solidFill>
                <a:latin typeface="Arial"/>
                <a:ea typeface="Arial"/>
                <a:cs typeface="Arial"/>
              </a:rPr>
              <a:t>Test across more future blocks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D5FAE-8036-41E4-B5DD-093D3EC2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908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Use several rolling chronological holdouts and unseen-tournament checks; keep every match group intact.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761CC-9C00-489D-AE0F-D95A6611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0782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0F815-2AB5-4D43-9497-75071D5D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48075"/>
            <a:ext cx="42862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6351E"/>
          </a:solidFill>
          <a:ln xmlns:a="http://schemas.openxmlformats.org/drawingml/2006/main" w="9525">
            <a:solidFill>
              <a:srgbClr val="53693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2226B-5678-481A-8F55-3888B189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480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C5E9C-B64F-4C2D-B5E8-9DC7A55D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71875"/>
            <a:ext cx="975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3F5"/>
                </a:solidFill>
                <a:latin typeface="Arial"/>
                <a:ea typeface="Arial"/>
                <a:cs typeface="Arial"/>
              </a:rPr>
              <a:t>Add only source-backed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799C5-4521-44E8-9BA1-E844637F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290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Use stage, map, roster, and player form only when the source provides reliable values. Do not invent damage or survival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A0D79-0F70-45E5-9029-8033FA8A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10782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C84FF-56E2-458B-BD76-6FDD64C5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86275"/>
            <a:ext cx="42862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6351E"/>
          </a:solidFill>
          <a:ln xmlns:a="http://schemas.openxmlformats.org/drawingml/2006/main" w="9525">
            <a:solidFill>
              <a:srgbClr val="53693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0F292-CFBC-4CD3-A3B7-D74A62B5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862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F6761-1F85-4C53-A438-26290F47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10075"/>
            <a:ext cx="975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3F5"/>
                </a:solidFill>
                <a:latin typeface="Arial"/>
                <a:ea typeface="Arial"/>
                <a:cs typeface="Arial"/>
              </a:rPr>
              <a:t>Compare against simple baselines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9BC372-56D0-4986-A677-DE6D8E97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672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Track per-lobby log loss, Brier score, calibration, and winner-ranked-first rate; report uncertainty from the small sample.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4752C-AAC5-4D4C-BFD4-B6A3498D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7823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172824"/>
          </a:solidFill>
          <a:ln xmlns:a="http://schemas.openxmlformats.org/drawingml/2006/main" w="9525">
            <a:solidFill>
              <a:srgbClr val="3C605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768335-7421-463D-B0CE-37873103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24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Jupyter Notebook: yes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2FF0F0-8DA1-47DA-9A95-975E8C13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3E7"/>
                </a:solidFill>
                <a:latin typeface="Arial"/>
                <a:ea typeface="Arial"/>
                <a:cs typeface="Arial"/>
              </a:rPr>
              <a:t>Use notebooks/BGMI_Winning_Probability_Analysis.ipynb for the dataset walkthrough, cleaning, EDA, leakage-safe features, chronological evaluation, calibration, and saved artifacts. Flask loads the saved model; it does not retrain when the site starts.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B1B11E-051F-4D70-8AA7-DEAA3972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3A"/>
          </a:solidFill>
          <a:ln xmlns:a="http://schemas.openxmlformats.org/drawingml/2006/main" w="0">
            <a:solidFill>
              <a:srgbClr val="20303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433DF6-A74A-44C5-A85F-DC66AA9B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6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92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E929D"/>
                </a:solidFill>
                <a:latin typeface="Arial"/>
                <a:ea typeface="Arial"/>
                <a:cs typeface="Arial"/>
              </a:rPr>
              <a:t>Notebook and training workflow: project README.md; validation recommendations use the observed holdout limits.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10911-C3D5-4BE2-8492-E749A94B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5246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01039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2026-10-02T15:31:02.3050000Z</dcterms:created>
  <dcterms:modified xsi:type="dcterms:W3CDTF">2026-10-02T15:31:02.3050000Z</dcterms:modified>
</coreProperties>
</file>